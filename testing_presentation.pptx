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914400" y="1645920"/>
            <a:ext cx="10362895" cy="4114800"/>
          </a:xfrm>
          <a:prstGeom prst="rect">
            <a:avLst/>
          </a:prstGeom>
          <a:noFill/>
        </p:spPr>
        <p:txBody>
          <a:bodyPr wrap="square">
            <a:spAutoFit/>
          </a:bodyPr>
          <a:lstStyle/>
          <a:p>
            <a:pPr algn="ctr">
              <a:spcAft>
                <a:spcPts val="1600"/>
              </a:spcAft>
              <a:defRPr sz="1200" b="1">
                <a:solidFill>
                  <a:srgbClr val="7C3AED"/>
                </a:solidFill>
                <a:latin typeface="Outfit"/>
              </a:defRPr>
            </a:pPr>
            <a:r>
              <a:t>BÁO CÁO GIỮA KỲ</a:t>
            </a:r>
          </a:p>
          <a:p>
            <a:pPr algn="ctr">
              <a:spcAft>
                <a:spcPts val="1400"/>
              </a:spcAft>
              <a:defRPr sz="3400" b="1">
                <a:solidFill>
                  <a:srgbClr val="0F172A"/>
                </a:solidFill>
                <a:latin typeface="Outfit"/>
              </a:defRPr>
            </a:pPr>
            <a:r>
              <a:t>ĐÁNH GIÁ VÀ KIỂM ĐỊNH CHẤT LƯỢNG PHẦN MỀM</a:t>
            </a:r>
          </a:p>
          <a:p>
            <a:pPr algn="ctr">
              <a:spcAft>
                <a:spcPts val="4800"/>
              </a:spcAft>
              <a:defRPr sz="1700">
                <a:solidFill>
                  <a:srgbClr val="475569"/>
                </a:solidFill>
                <a:latin typeface="Outfit"/>
              </a:defRPr>
            </a:pPr>
            <a:r>
              <a:t>Xây dựng hệ thống kiểm thử tự động cho ứng dụng E-commerce tích hợp Authentication với hỗ trợ AI</a:t>
            </a:r>
          </a:p>
          <a:p>
            <a:pPr algn="ctr">
              <a:defRPr sz="1200">
                <a:solidFill>
                  <a:srgbClr val="475569"/>
                </a:solidFill>
                <a:latin typeface="Outfit"/>
              </a:defRPr>
            </a:pPr>
            <a:r>
              <a:t>Nhóm thực hiện: Nghiêm Đức Việt (23010636) | Nguyễn Duy Minh (23010359) | Đặng Nhất Nhất (23010345)</a:t>
            </a:r>
            <a:br/>
            <a:r>
              <a:t>Giảng viên hướng dẫn: TS. Trịnh Thanh Bình  |  Tháng 06/2026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Tổng Quan Hệ Thống (ECM Project)</a:t>
            </a:r>
          </a:p>
          <a:p>
            <a:pPr>
              <a:spcBef>
                <a:spcPts val="400"/>
              </a:spcBef>
              <a:defRPr sz="1300">
                <a:solidFill>
                  <a:srgbClr val="475569"/>
                </a:solidFill>
                <a:latin typeface="Outfit"/>
              </a:defRPr>
            </a:pPr>
            <a:r>
              <a:t>Ứng dụng linh kiện máy tính tích hợp PC Builder, VietQR và RMA</a:t>
            </a:r>
          </a:p>
        </p:txBody>
      </p:sp>
      <p:sp>
        <p:nvSpPr>
          <p:cNvPr id="3" name="Rounded Rectangle 2"/>
          <p:cNvSpPr/>
          <p:nvPr/>
        </p:nvSpPr>
        <p:spPr>
          <a:xfrm>
            <a:off x="548640"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Nghiệp Vụ Cốt Lõi</a:t>
            </a:r>
          </a:p>
          <a:p>
            <a:pPr>
              <a:lnSpc>
                <a:spcPct val="115000"/>
              </a:lnSpc>
              <a:spcBef>
                <a:spcPts val="600"/>
              </a:spcBef>
              <a:defRPr sz="1300">
                <a:solidFill>
                  <a:srgbClr val="334155"/>
                </a:solidFill>
                <a:latin typeface="Outfit"/>
              </a:defRPr>
            </a:pPr>
            <a:r>
              <a:t>Thương mại điện tử: Tìm kiếm, giỏ hàng động, tự động gộp giỏ hàng vãng lai sau đăng nhập, áp dụng coupon.</a:t>
            </a:r>
          </a:p>
          <a:p>
            <a:pPr>
              <a:lnSpc>
                <a:spcPct val="115000"/>
              </a:lnSpc>
              <a:spcBef>
                <a:spcPts val="600"/>
              </a:spcBef>
              <a:defRPr sz="1300">
                <a:solidFill>
                  <a:srgbClr val="334155"/>
                </a:solidFill>
                <a:latin typeface="Outfit"/>
              </a:defRPr>
            </a:pPr>
            <a:r>
              <a:t>PC Builder: Lắp ráp linh kiện, kiểm tra tương thích Socket CPU/Mainboard, chuẩn RAM, công suất PSU.</a:t>
            </a:r>
          </a:p>
          <a:p>
            <a:pPr>
              <a:lnSpc>
                <a:spcPct val="115000"/>
              </a:lnSpc>
              <a:spcBef>
                <a:spcPts val="600"/>
              </a:spcBef>
              <a:defRPr sz="1300">
                <a:solidFill>
                  <a:srgbClr val="334155"/>
                </a:solidFill>
                <a:latin typeface="Outfit"/>
              </a:defRPr>
            </a:pPr>
            <a:r>
              <a:t>VietQR Webhook: Tạo mã QR động tự động, đối soát thanh toán thông qua webhook (IPN).</a:t>
            </a:r>
          </a:p>
          <a:p>
            <a:pPr>
              <a:lnSpc>
                <a:spcPct val="115000"/>
              </a:lnSpc>
              <a:spcBef>
                <a:spcPts val="600"/>
              </a:spcBef>
              <a:defRPr sz="1300">
                <a:solidFill>
                  <a:srgbClr val="334155"/>
                </a:solidFill>
                <a:latin typeface="Outfit"/>
              </a:defRPr>
            </a:pPr>
            <a:r>
              <a:t>Bảo hành &amp; RMA: Quản lý số Serial, hạn bảo hành, quy trình đổi trả hàng lỗi đa trạng thái.</a:t>
            </a:r>
          </a:p>
        </p:txBody>
      </p:sp>
      <p:sp>
        <p:nvSpPr>
          <p:cNvPr id="5" name="Rounded Rectangle 4"/>
          <p:cNvSpPr/>
          <p:nvPr/>
        </p:nvSpPr>
        <p:spPr>
          <a:xfrm>
            <a:off x="6248095" y="1645920"/>
            <a:ext cx="5394960" cy="292608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2468880"/>
          </a:xfrm>
          <a:prstGeom prst="rect">
            <a:avLst/>
          </a:prstGeom>
          <a:noFill/>
        </p:spPr>
        <p:txBody>
          <a:bodyPr wrap="square" lIns="0" tIns="0" bIns="0" rIns="0">
            <a:spAutoFit/>
          </a:bodyPr>
          <a:lstStyle/>
          <a:p>
            <a:pPr>
              <a:spcAft>
                <a:spcPts val="1000"/>
              </a:spcAft>
              <a:defRPr sz="1800" b="1">
                <a:solidFill>
                  <a:srgbClr val="7C3AED"/>
                </a:solidFill>
                <a:latin typeface="Outfit"/>
              </a:defRPr>
            </a:pPr>
            <a:r>
              <a:t>Phân Quyền Vận Hành</a:t>
            </a:r>
          </a:p>
          <a:p>
            <a:pPr>
              <a:lnSpc>
                <a:spcPct val="115000"/>
              </a:lnSpc>
              <a:spcBef>
                <a:spcPts val="600"/>
              </a:spcBef>
              <a:defRPr sz="1300">
                <a:solidFill>
                  <a:srgbClr val="334155"/>
                </a:solidFill>
                <a:latin typeface="Outfit"/>
              </a:defRPr>
            </a:pPr>
            <a:r>
              <a:t>Khách Hàng (Customer): Tìm kiếm linh kiện, lắp ráp cấu hình PC, thanh toán VietQR và tạo yêu cầu đổi trả.</a:t>
            </a:r>
          </a:p>
          <a:p>
            <a:pPr>
              <a:lnSpc>
                <a:spcPct val="115000"/>
              </a:lnSpc>
              <a:spcBef>
                <a:spcPts val="600"/>
              </a:spcBef>
              <a:defRPr sz="1300">
                <a:solidFill>
                  <a:srgbClr val="334155"/>
                </a:solidFill>
                <a:latin typeface="Outfit"/>
              </a:defRPr>
            </a:pPr>
            <a:r>
              <a:t>Nhân Viên (Staff): Xử lý trạng thái đơn hàng, fulfillment mã vận đơn, duyệt hoặc từ chối yêu cầu đổi trả hàng lỗi.</a:t>
            </a:r>
          </a:p>
          <a:p>
            <a:pPr>
              <a:lnSpc>
                <a:spcPct val="115000"/>
              </a:lnSpc>
              <a:spcBef>
                <a:spcPts val="600"/>
              </a:spcBef>
              <a:defRPr sz="1300">
                <a:solidFill>
                  <a:srgbClr val="334155"/>
                </a:solidFill>
                <a:latin typeface="Outfit"/>
              </a:defRPr>
            </a:pPr>
            <a:r>
              <a:t>Quản Trị Viên (Admin): CRUD danh mục sản phẩm (sử dụng Soft Delete), cấu hình coupon, shipping zones.</a:t>
            </a:r>
          </a:p>
          <a:p>
            <a:pPr>
              <a:lnSpc>
                <a:spcPct val="115000"/>
              </a:lnSpc>
              <a:spcBef>
                <a:spcPts val="600"/>
              </a:spcBef>
              <a:defRPr sz="1300">
                <a:solidFill>
                  <a:srgbClr val="334155"/>
                </a:solidFill>
                <a:latin typeface="Outfit"/>
              </a:defRPr>
            </a:pPr>
            <a:r>
              <a:t>Hệ thống phân quyền chi tiết dựa trên token Sanctum cá nhân và Middleware kiểm soát tài nguyên nghiêm ngặt.</a:t>
            </a:r>
          </a:p>
        </p:txBody>
      </p:sp>
      <p:sp>
        <p:nvSpPr>
          <p:cNvPr id="7" name="Rectangle 6"/>
          <p:cNvSpPr/>
          <p:nvPr/>
        </p:nvSpPr>
        <p:spPr>
          <a:xfrm>
            <a:off x="6248095" y="4754880"/>
            <a:ext cx="5394960" cy="13716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4937760"/>
            <a:ext cx="5029200" cy="100584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Sơ đồ phân quyền truy cập và vai trò người dùng trong hệ thống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Công Nghệ &amp; Kiến Trúc Kiểm Thử</a:t>
            </a:r>
          </a:p>
          <a:p>
            <a:pPr>
              <a:spcBef>
                <a:spcPts val="400"/>
              </a:spcBef>
              <a:defRPr sz="1300">
                <a:solidFill>
                  <a:srgbClr val="475569"/>
                </a:solidFill>
                <a:latin typeface="Outfit"/>
              </a:defRPr>
            </a:pPr>
            <a:r>
              <a:t>Hệ sinh thái QA tự động tích hợp hỗ trợ sinh ca kiểm thử từ AI</a:t>
            </a:r>
          </a:p>
        </p:txBody>
      </p:sp>
      <p:sp>
        <p:nvSpPr>
          <p:cNvPr id="3" name="Rounded Rectangle 2"/>
          <p:cNvSpPr/>
          <p:nvPr/>
        </p:nvSpPr>
        <p:spPr>
          <a:xfrm>
            <a:off x="548640"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Hệ Sinh Thái Công Nghệ</a:t>
            </a:r>
          </a:p>
          <a:p>
            <a:pPr>
              <a:lnSpc>
                <a:spcPct val="115000"/>
              </a:lnSpc>
              <a:spcBef>
                <a:spcPts val="600"/>
              </a:spcBef>
              <a:defRPr sz="1300">
                <a:solidFill>
                  <a:srgbClr val="334155"/>
                </a:solidFill>
                <a:latin typeface="Outfit"/>
              </a:defRPr>
            </a:pPr>
            <a:r>
              <a:t>Backend: Laravel 12, PHP 8.2+, SQLite (in-memory test DB).</a:t>
            </a:r>
          </a:p>
          <a:p>
            <a:pPr>
              <a:lnSpc>
                <a:spcPct val="115000"/>
              </a:lnSpc>
              <a:spcBef>
                <a:spcPts val="600"/>
              </a:spcBef>
              <a:defRPr sz="1300">
                <a:solidFill>
                  <a:srgbClr val="334155"/>
                </a:solidFill>
                <a:latin typeface="Outfit"/>
              </a:defRPr>
            </a:pPr>
            <a:r>
              <a:t>Database: SQLite (In-Memory), MySQL 8.0, Redis Container (lưu trữ Cache &amp; Session).</a:t>
            </a:r>
          </a:p>
          <a:p>
            <a:pPr>
              <a:lnSpc>
                <a:spcPct val="115000"/>
              </a:lnSpc>
              <a:spcBef>
                <a:spcPts val="600"/>
              </a:spcBef>
              <a:defRPr sz="1300">
                <a:solidFill>
                  <a:srgbClr val="334155"/>
                </a:solidFill>
                <a:latin typeface="Outfit"/>
              </a:defRPr>
            </a:pPr>
            <a:r>
              <a:t>Frontend: Vue 3 (Vite, Pinia, Vanilla CSS).</a:t>
            </a:r>
          </a:p>
          <a:p>
            <a:pPr>
              <a:lnSpc>
                <a:spcPct val="115000"/>
              </a:lnSpc>
              <a:spcBef>
                <a:spcPts val="600"/>
              </a:spcBef>
              <a:defRPr sz="1300">
                <a:solidFill>
                  <a:srgbClr val="334155"/>
                </a:solidFill>
                <a:latin typeface="Outfit"/>
              </a:defRPr>
            </a:pPr>
            <a:r>
              <a:t>Testing: PHPUnit 10+, Playwright E2E, Postman / Newman CLI.</a:t>
            </a:r>
          </a:p>
          <a:p>
            <a:pPr>
              <a:lnSpc>
                <a:spcPct val="115000"/>
              </a:lnSpc>
              <a:spcBef>
                <a:spcPts val="600"/>
              </a:spcBef>
              <a:defRPr sz="1300">
                <a:solidFill>
                  <a:srgbClr val="334155"/>
                </a:solidFill>
                <a:latin typeface="Outfit"/>
              </a:defRPr>
            </a:pPr>
            <a:r>
              <a:t>AI Engine: Python, RAG, Ollama / OpenAI API (Qwen2.5-Coder:7b).</a:t>
            </a:r>
          </a:p>
        </p:txBody>
      </p:sp>
      <p:sp>
        <p:nvSpPr>
          <p:cNvPr id="5" name="Rounded Rectangle 4"/>
          <p:cNvSpPr/>
          <p:nvPr/>
        </p:nvSpPr>
        <p:spPr>
          <a:xfrm>
            <a:off x="6248095" y="1645920"/>
            <a:ext cx="5394960" cy="228600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1828800"/>
          </a:xfrm>
          <a:prstGeom prst="rect">
            <a:avLst/>
          </a:prstGeom>
          <a:noFill/>
        </p:spPr>
        <p:txBody>
          <a:bodyPr wrap="square" lIns="0" tIns="0" bIns="0" rIns="0">
            <a:spAutoFit/>
          </a:bodyPr>
          <a:lstStyle/>
          <a:p>
            <a:pPr>
              <a:spcAft>
                <a:spcPts val="1000"/>
              </a:spcAft>
              <a:defRPr sz="1800" b="1">
                <a:solidFill>
                  <a:srgbClr val="7C3AED"/>
                </a:solidFill>
                <a:latin typeface="Outfit"/>
              </a:defRPr>
            </a:pPr>
            <a:r>
              <a:t>Mô Hình QA &amp; RAG Testgen</a:t>
            </a:r>
          </a:p>
          <a:p>
            <a:pPr>
              <a:lnSpc>
                <a:spcPct val="115000"/>
              </a:lnSpc>
              <a:spcBef>
                <a:spcPts val="600"/>
              </a:spcBef>
              <a:defRPr sz="1300">
                <a:solidFill>
                  <a:srgbClr val="334155"/>
                </a:solidFill>
                <a:latin typeface="Outfit"/>
              </a:defRPr>
            </a:pPr>
            <a:r>
              <a:t>1. Quét mã nguồn: Python CLI đọc Routes và Validation rules của Laravel.</a:t>
            </a:r>
          </a:p>
          <a:p>
            <a:pPr>
              <a:lnSpc>
                <a:spcPct val="115000"/>
              </a:lnSpc>
              <a:spcBef>
                <a:spcPts val="600"/>
              </a:spcBef>
              <a:defRPr sz="1300">
                <a:solidFill>
                  <a:srgbClr val="334155"/>
                </a:solidFill>
                <a:latin typeface="Outfit"/>
              </a:defRPr>
            </a:pPr>
            <a:r>
              <a:t>2. Tạo RAG context: Trích xuất database schemas và seeder làm ngữ cảnh.</a:t>
            </a:r>
          </a:p>
          <a:p>
            <a:pPr>
              <a:lnSpc>
                <a:spcPct val="115000"/>
              </a:lnSpc>
              <a:spcBef>
                <a:spcPts val="600"/>
              </a:spcBef>
              <a:defRPr sz="1300">
                <a:solidFill>
                  <a:srgbClr val="334155"/>
                </a:solidFill>
                <a:latin typeface="Outfit"/>
              </a:defRPr>
            </a:pPr>
            <a:r>
              <a:t>3. Sinh testcase: LLM dịch ngữ cảnh thành file JSON collection.</a:t>
            </a:r>
          </a:p>
          <a:p>
            <a:pPr>
              <a:lnSpc>
                <a:spcPct val="115000"/>
              </a:lnSpc>
              <a:spcBef>
                <a:spcPts val="600"/>
              </a:spcBef>
              <a:defRPr sz="1300">
                <a:solidFill>
                  <a:srgbClr val="334155"/>
                </a:solidFill>
                <a:latin typeface="Outfit"/>
              </a:defRPr>
            </a:pPr>
            <a:r>
              <a:t>Môi trường SQLite in-memory giúp chạy 111 test cases dưới 4 giây.</a:t>
            </a:r>
          </a:p>
        </p:txBody>
      </p:sp>
      <p:sp>
        <p:nvSpPr>
          <p:cNvPr id="7" name="Rectangle 6"/>
          <p:cNvSpPr/>
          <p:nvPr/>
        </p:nvSpPr>
        <p:spPr>
          <a:xfrm>
            <a:off x="6248095" y="4114800"/>
            <a:ext cx="5394960" cy="201168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4297680"/>
            <a:ext cx="5029200" cy="164592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Sơ đồ kiến trúc luồng kiểm định chất lượng (QA System Architecture)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Mục Tiêu &amp; Phạm Vi Kiểm Thử</a:t>
            </a:r>
          </a:p>
          <a:p>
            <a:pPr>
              <a:spcBef>
                <a:spcPts val="400"/>
              </a:spcBef>
              <a:defRPr sz="1300">
                <a:solidFill>
                  <a:srgbClr val="475569"/>
                </a:solidFill>
                <a:latin typeface="Outfit"/>
              </a:defRPr>
            </a:pPr>
            <a:r>
              <a:t>Đặc tả các hạng mục kiểm định trong và ngoài phạm vi</a:t>
            </a:r>
          </a:p>
        </p:txBody>
      </p:sp>
      <p:sp>
        <p:nvSpPr>
          <p:cNvPr id="3" name="Rounded Rectangle 2"/>
          <p:cNvSpPr/>
          <p:nvPr/>
        </p:nvSpPr>
        <p:spPr>
          <a:xfrm>
            <a:off x="548640" y="1645920"/>
            <a:ext cx="5394960" cy="448056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59669"/>
                </a:solidFill>
                <a:latin typeface="Outfit"/>
              </a:defRPr>
            </a:pPr>
            <a:r>
              <a:t>Trong Phạm Vi (In-Scope)</a:t>
            </a:r>
          </a:p>
          <a:p>
            <a:pPr>
              <a:lnSpc>
                <a:spcPct val="115000"/>
              </a:lnSpc>
              <a:spcBef>
                <a:spcPts val="600"/>
              </a:spcBef>
              <a:defRPr sz="1300">
                <a:solidFill>
                  <a:srgbClr val="334155"/>
                </a:solidFill>
                <a:latin typeface="Outfit"/>
              </a:defRPr>
            </a:pPr>
            <a:r>
              <a:t>Unit Test: Kiểm tra logic tính toán cô lập (phí ship theo khu vực, thuế VAT, áp coupon, độ tương thích PC Builder).</a:t>
            </a:r>
          </a:p>
          <a:p>
            <a:pPr>
              <a:lnSpc>
                <a:spcPct val="115000"/>
              </a:lnSpc>
              <a:spcBef>
                <a:spcPts val="600"/>
              </a:spcBef>
              <a:defRPr sz="1300">
                <a:solidFill>
                  <a:srgbClr val="334155"/>
                </a:solidFill>
                <a:latin typeface="Outfit"/>
              </a:defRPr>
            </a:pPr>
            <a:r>
              <a:t>Feature / API Test: Kiểm thử tích hợp validation rules, API endpoints, authentication và DB transactions.</a:t>
            </a:r>
          </a:p>
          <a:p>
            <a:pPr>
              <a:lnSpc>
                <a:spcPct val="115000"/>
              </a:lnSpc>
              <a:spcBef>
                <a:spcPts val="600"/>
              </a:spcBef>
              <a:defRPr sz="1300">
                <a:solidFill>
                  <a:srgbClr val="334155"/>
                </a:solidFill>
                <a:latin typeface="Outfit"/>
              </a:defRPr>
            </a:pPr>
            <a:r>
              <a:t>E2E UI Test: Giả lập hành vi mua sắm thực tế của người dùng cuối bằng Playwright.</a:t>
            </a:r>
          </a:p>
          <a:p>
            <a:pPr>
              <a:lnSpc>
                <a:spcPct val="115000"/>
              </a:lnSpc>
              <a:spcBef>
                <a:spcPts val="600"/>
              </a:spcBef>
              <a:defRPr sz="1300">
                <a:solidFill>
                  <a:srgbClr val="334155"/>
                </a:solidFill>
                <a:latin typeface="Outfit"/>
              </a:defRPr>
            </a:pPr>
            <a:r>
              <a:t>Postman API Test: Tự động hóa kiểm thử tích hợp hộp đen trên môi trường Local/Dev.</a:t>
            </a:r>
          </a:p>
        </p:txBody>
      </p:sp>
      <p:sp>
        <p:nvSpPr>
          <p:cNvPr id="5" name="Rounded Rectangle 4"/>
          <p:cNvSpPr/>
          <p:nvPr/>
        </p:nvSpPr>
        <p:spPr>
          <a:xfrm>
            <a:off x="6248095" y="1645920"/>
            <a:ext cx="5394960" cy="4480560"/>
          </a:xfrm>
          <a:prstGeom prst="roundRect">
            <a:avLst/>
          </a:prstGeom>
          <a:solidFill>
            <a:srgbClr val="FFFFFF"/>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4023360"/>
          </a:xfrm>
          <a:prstGeom prst="rect">
            <a:avLst/>
          </a:prstGeom>
          <a:noFill/>
        </p:spPr>
        <p:txBody>
          <a:bodyPr wrap="square" lIns="0" tIns="0" bIns="0" rIns="0">
            <a:spAutoFit/>
          </a:bodyPr>
          <a:lstStyle/>
          <a:p>
            <a:pPr>
              <a:spcAft>
                <a:spcPts val="1000"/>
              </a:spcAft>
              <a:defRPr sz="1800" b="1">
                <a:solidFill>
                  <a:srgbClr val="D97706"/>
                </a:solidFill>
                <a:latin typeface="Outfit"/>
              </a:defRPr>
            </a:pPr>
            <a:r>
              <a:t>Ngoài Phạm Vi (Out-of-Scope)</a:t>
            </a:r>
          </a:p>
          <a:p>
            <a:pPr>
              <a:lnSpc>
                <a:spcPct val="115000"/>
              </a:lnSpc>
              <a:spcBef>
                <a:spcPts val="600"/>
              </a:spcBef>
              <a:defRPr sz="1300">
                <a:solidFill>
                  <a:srgbClr val="334155"/>
                </a:solidFill>
                <a:latin typeface="Outfit"/>
              </a:defRPr>
            </a:pPr>
            <a:r>
              <a:t>Kiểm thử bảo mật hạ tầng mạng, chống DDoS và cấu hình firewall của VPS.</a:t>
            </a:r>
          </a:p>
          <a:p>
            <a:pPr>
              <a:lnSpc>
                <a:spcPct val="115000"/>
              </a:lnSpc>
              <a:spcBef>
                <a:spcPts val="600"/>
              </a:spcBef>
              <a:defRPr sz="1300">
                <a:solidFill>
                  <a:srgbClr val="334155"/>
                </a:solidFill>
                <a:latin typeface="Outfit"/>
              </a:defRPr>
            </a:pPr>
            <a:r>
              <a:t>Kết nối API thực tế với đơn vị giao vận thứ ba (chỉ sử dụng dữ liệu giả lập/mocking).</a:t>
            </a:r>
          </a:p>
          <a:p>
            <a:pPr>
              <a:lnSpc>
                <a:spcPct val="115000"/>
              </a:lnSpc>
              <a:spcBef>
                <a:spcPts val="600"/>
              </a:spcBef>
              <a:defRPr sz="1300">
                <a:solidFill>
                  <a:srgbClr val="334155"/>
                </a:solidFill>
                <a:latin typeface="Outfit"/>
              </a:defRPr>
            </a:pPr>
            <a:r>
              <a:t>Giao dịch chuyển khoản thật qua ngân hàng (chỉ thực hiện Webhook giả lập để đối soát).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Chiến Lược Kiểm Thử (4 Giai Đoạn)</a:t>
            </a:r>
          </a:p>
          <a:p>
            <a:pPr>
              <a:spcBef>
                <a:spcPts val="400"/>
              </a:spcBef>
              <a:defRPr sz="1300">
                <a:solidFill>
                  <a:srgbClr val="475569"/>
                </a:solidFill>
                <a:latin typeface="Outfit"/>
              </a:defRPr>
            </a:pPr>
            <a:r>
              <a:t>Từ kiểm thử cô lập mã nguồn đến chạy tự động hóa UI và hồi quy</a:t>
            </a:r>
          </a:p>
        </p:txBody>
      </p:sp>
      <p:sp>
        <p:nvSpPr>
          <p:cNvPr id="3" name="Rounded Rectangle 2"/>
          <p:cNvSpPr/>
          <p:nvPr/>
        </p:nvSpPr>
        <p:spPr>
          <a:xfrm>
            <a:off x="548640" y="1645920"/>
            <a:ext cx="2514600" cy="43891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1874520" cy="3931920"/>
          </a:xfrm>
          <a:prstGeom prst="rect">
            <a:avLst/>
          </a:prstGeom>
          <a:noFill/>
        </p:spPr>
        <p:txBody>
          <a:bodyPr wrap="square" lIns="0" tIns="0" bIns="0" rIns="0">
            <a:spAutoFit/>
          </a:bodyPr>
          <a:lstStyle/>
          <a:p>
            <a:pPr>
              <a:spcAft>
                <a:spcPts val="1000"/>
              </a:spcAft>
              <a:defRPr sz="1800" b="1">
                <a:solidFill>
                  <a:srgbClr val="0284C7"/>
                </a:solidFill>
                <a:latin typeface="Outfit"/>
              </a:defRPr>
            </a:pPr>
            <a:r>
              <a:t>GĐ 1: Unit Test</a:t>
            </a:r>
          </a:p>
          <a:p>
            <a:pPr>
              <a:lnSpc>
                <a:spcPct val="115000"/>
              </a:lnSpc>
              <a:spcBef>
                <a:spcPts val="600"/>
              </a:spcBef>
              <a:defRPr sz="1200">
                <a:solidFill>
                  <a:srgbClr val="334155"/>
                </a:solidFill>
                <a:latin typeface="Outfit"/>
              </a:defRPr>
            </a:pPr>
            <a:r>
              <a:t>Kiểm tra hàm logic cô lập.</a:t>
            </a:r>
          </a:p>
          <a:p>
            <a:pPr>
              <a:lnSpc>
                <a:spcPct val="115000"/>
              </a:lnSpc>
              <a:spcBef>
                <a:spcPts val="600"/>
              </a:spcBef>
              <a:defRPr sz="1200">
                <a:solidFill>
                  <a:srgbClr val="334155"/>
                </a:solidFill>
                <a:latin typeface="Outfit"/>
              </a:defRPr>
            </a:pPr>
            <a:r>
              <a:t>Không gọi DB/API.</a:t>
            </a:r>
          </a:p>
          <a:p>
            <a:pPr>
              <a:lnSpc>
                <a:spcPct val="115000"/>
              </a:lnSpc>
              <a:spcBef>
                <a:spcPts val="600"/>
              </a:spcBef>
              <a:defRPr sz="1200">
                <a:solidFill>
                  <a:srgbClr val="334155"/>
                </a:solidFill>
                <a:latin typeface="Outfit"/>
              </a:defRPr>
            </a:pPr>
            <a:r>
              <a:t>Tốc độ chạy cực nhanh.</a:t>
            </a:r>
          </a:p>
          <a:p>
            <a:pPr>
              <a:lnSpc>
                <a:spcPct val="115000"/>
              </a:lnSpc>
              <a:spcBef>
                <a:spcPts val="600"/>
              </a:spcBef>
              <a:defRPr sz="1200">
                <a:solidFill>
                  <a:srgbClr val="334155"/>
                </a:solidFill>
                <a:latin typeface="Outfit"/>
              </a:defRPr>
            </a:pPr>
            <a:r>
              <a:t>Tập trung thuật toán tính tiền đơn hàng và PcBuilder.</a:t>
            </a:r>
          </a:p>
        </p:txBody>
      </p:sp>
      <p:sp>
        <p:nvSpPr>
          <p:cNvPr id="5" name="Rounded Rectangle 4"/>
          <p:cNvSpPr/>
          <p:nvPr/>
        </p:nvSpPr>
        <p:spPr>
          <a:xfrm>
            <a:off x="3291840" y="1645920"/>
            <a:ext cx="2514600" cy="438912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11880" y="1874520"/>
            <a:ext cx="1874520" cy="3931920"/>
          </a:xfrm>
          <a:prstGeom prst="rect">
            <a:avLst/>
          </a:prstGeom>
          <a:noFill/>
        </p:spPr>
        <p:txBody>
          <a:bodyPr wrap="square" lIns="0" tIns="0" bIns="0" rIns="0">
            <a:spAutoFit/>
          </a:bodyPr>
          <a:lstStyle/>
          <a:p>
            <a:pPr>
              <a:spcAft>
                <a:spcPts val="1000"/>
              </a:spcAft>
              <a:defRPr sz="1800" b="1">
                <a:solidFill>
                  <a:srgbClr val="7C3AED"/>
                </a:solidFill>
                <a:latin typeface="Outfit"/>
              </a:defRPr>
            </a:pPr>
            <a:r>
              <a:t>GĐ 2: Feature Test</a:t>
            </a:r>
          </a:p>
          <a:p>
            <a:pPr>
              <a:lnSpc>
                <a:spcPct val="115000"/>
              </a:lnSpc>
              <a:spcBef>
                <a:spcPts val="600"/>
              </a:spcBef>
              <a:defRPr sz="1200">
                <a:solidFill>
                  <a:srgbClr val="334155"/>
                </a:solidFill>
                <a:latin typeface="Outfit"/>
              </a:defRPr>
            </a:pPr>
            <a:r>
              <a:t>Kiểm thử tích hợp Laravel.</a:t>
            </a:r>
          </a:p>
          <a:p>
            <a:pPr>
              <a:lnSpc>
                <a:spcPct val="115000"/>
              </a:lnSpc>
              <a:spcBef>
                <a:spcPts val="600"/>
              </a:spcBef>
              <a:defRPr sz="1200">
                <a:solidFill>
                  <a:srgbClr val="334155"/>
                </a:solidFill>
                <a:latin typeface="Outfit"/>
              </a:defRPr>
            </a:pPr>
            <a:r>
              <a:t>Reset DB SQLite mỗi lần chạy.</a:t>
            </a:r>
          </a:p>
          <a:p>
            <a:pPr>
              <a:lnSpc>
                <a:spcPct val="115000"/>
              </a:lnSpc>
              <a:spcBef>
                <a:spcPts val="600"/>
              </a:spcBef>
              <a:defRPr sz="1200">
                <a:solidFill>
                  <a:srgbClr val="334155"/>
                </a:solidFill>
                <a:latin typeface="Outfit"/>
              </a:defRPr>
            </a:pPr>
            <a:r>
              <a:t>Test API routes, Sanctum token và Middleware.</a:t>
            </a:r>
          </a:p>
        </p:txBody>
      </p:sp>
      <p:sp>
        <p:nvSpPr>
          <p:cNvPr id="7" name="Rounded Rectangle 6"/>
          <p:cNvSpPr/>
          <p:nvPr/>
        </p:nvSpPr>
        <p:spPr>
          <a:xfrm>
            <a:off x="6035040" y="1645920"/>
            <a:ext cx="2514600" cy="438912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874520"/>
            <a:ext cx="1874520" cy="3931920"/>
          </a:xfrm>
          <a:prstGeom prst="rect">
            <a:avLst/>
          </a:prstGeom>
          <a:noFill/>
        </p:spPr>
        <p:txBody>
          <a:bodyPr wrap="square" lIns="0" tIns="0" bIns="0" rIns="0">
            <a:spAutoFit/>
          </a:bodyPr>
          <a:lstStyle/>
          <a:p>
            <a:pPr>
              <a:spcAft>
                <a:spcPts val="1000"/>
              </a:spcAft>
              <a:defRPr sz="1800" b="1">
                <a:solidFill>
                  <a:srgbClr val="059669"/>
                </a:solidFill>
                <a:latin typeface="Outfit"/>
              </a:defRPr>
            </a:pPr>
            <a:r>
              <a:t>GĐ 3: E2E UI Test</a:t>
            </a:r>
          </a:p>
          <a:p>
            <a:pPr>
              <a:lnSpc>
                <a:spcPct val="115000"/>
              </a:lnSpc>
              <a:spcBef>
                <a:spcPts val="600"/>
              </a:spcBef>
              <a:defRPr sz="1200">
                <a:solidFill>
                  <a:srgbClr val="334155"/>
                </a:solidFill>
                <a:latin typeface="Outfit"/>
              </a:defRPr>
            </a:pPr>
            <a:r>
              <a:t>Kiểm thử browser thực tế.</a:t>
            </a:r>
          </a:p>
          <a:p>
            <a:pPr>
              <a:lnSpc>
                <a:spcPct val="115000"/>
              </a:lnSpc>
              <a:spcBef>
                <a:spcPts val="600"/>
              </a:spcBef>
              <a:defRPr sz="1200">
                <a:solidFill>
                  <a:srgbClr val="334155"/>
                </a:solidFill>
                <a:latin typeface="Outfit"/>
              </a:defRPr>
            </a:pPr>
            <a:r>
              <a:t>Sử dụng Playwright E2E.</a:t>
            </a:r>
          </a:p>
          <a:p>
            <a:pPr>
              <a:lnSpc>
                <a:spcPct val="115000"/>
              </a:lnSpc>
              <a:spcBef>
                <a:spcPts val="600"/>
              </a:spcBef>
              <a:defRPr sz="1200">
                <a:solidFill>
                  <a:srgbClr val="334155"/>
                </a:solidFill>
                <a:latin typeface="Outfit"/>
              </a:defRPr>
            </a:pPr>
            <a:r>
              <a:t>Luồng Login, Build PC, Giỏ hàng, Checkout.</a:t>
            </a:r>
          </a:p>
          <a:p>
            <a:pPr>
              <a:lnSpc>
                <a:spcPct val="115000"/>
              </a:lnSpc>
              <a:spcBef>
                <a:spcPts val="600"/>
              </a:spcBef>
              <a:defRPr sz="1200">
                <a:solidFill>
                  <a:srgbClr val="334155"/>
                </a:solidFill>
                <a:latin typeface="Outfit"/>
              </a:defRPr>
            </a:pPr>
            <a:r>
              <a:t>Kiểm tra responsive.</a:t>
            </a:r>
          </a:p>
        </p:txBody>
      </p:sp>
      <p:sp>
        <p:nvSpPr>
          <p:cNvPr id="9" name="Rounded Rectangle 8"/>
          <p:cNvSpPr/>
          <p:nvPr/>
        </p:nvSpPr>
        <p:spPr>
          <a:xfrm>
            <a:off x="8778240" y="1645920"/>
            <a:ext cx="2514600" cy="4389120"/>
          </a:xfrm>
          <a:prstGeom prst="roundRect">
            <a:avLst/>
          </a:prstGeom>
          <a:solidFill>
            <a:srgbClr val="FFFFFF"/>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098280" y="1874520"/>
            <a:ext cx="1874520" cy="3931920"/>
          </a:xfrm>
          <a:prstGeom prst="rect">
            <a:avLst/>
          </a:prstGeom>
          <a:noFill/>
        </p:spPr>
        <p:txBody>
          <a:bodyPr wrap="square" lIns="0" tIns="0" bIns="0" rIns="0">
            <a:spAutoFit/>
          </a:bodyPr>
          <a:lstStyle/>
          <a:p>
            <a:pPr>
              <a:spcAft>
                <a:spcPts val="1000"/>
              </a:spcAft>
              <a:defRPr sz="1800" b="1">
                <a:solidFill>
                  <a:srgbClr val="D97706"/>
                </a:solidFill>
                <a:latin typeface="Outfit"/>
              </a:defRPr>
            </a:pPr>
            <a:r>
              <a:t>GĐ 4: AI Regression</a:t>
            </a:r>
          </a:p>
          <a:p>
            <a:pPr>
              <a:lnSpc>
                <a:spcPct val="115000"/>
              </a:lnSpc>
              <a:spcBef>
                <a:spcPts val="600"/>
              </a:spcBef>
              <a:defRPr sz="1200">
                <a:solidFill>
                  <a:srgbClr val="334155"/>
                </a:solidFill>
                <a:latin typeface="Outfit"/>
              </a:defRPr>
            </a:pPr>
            <a:r>
              <a:t>Regression tự động.</a:t>
            </a:r>
          </a:p>
          <a:p>
            <a:pPr>
              <a:lnSpc>
                <a:spcPct val="115000"/>
              </a:lnSpc>
              <a:spcBef>
                <a:spcPts val="600"/>
              </a:spcBef>
              <a:defRPr sz="1200">
                <a:solidFill>
                  <a:srgbClr val="334155"/>
                </a:solidFill>
                <a:latin typeface="Outfit"/>
              </a:defRPr>
            </a:pPr>
            <a:r>
              <a:t>RAG scan routes code.</a:t>
            </a:r>
          </a:p>
          <a:p>
            <a:pPr>
              <a:lnSpc>
                <a:spcPct val="115000"/>
              </a:lnSpc>
              <a:spcBef>
                <a:spcPts val="600"/>
              </a:spcBef>
              <a:defRPr sz="1200">
                <a:solidFill>
                  <a:srgbClr val="334155"/>
                </a:solidFill>
                <a:latin typeface="Outfit"/>
              </a:defRPr>
            </a:pPr>
            <a:r>
              <a:t>Sinh test suite JSON.</a:t>
            </a:r>
          </a:p>
          <a:p>
            <a:pPr>
              <a:lnSpc>
                <a:spcPct val="115000"/>
              </a:lnSpc>
              <a:spcBef>
                <a:spcPts val="600"/>
              </a:spcBef>
              <a:defRPr sz="1200">
                <a:solidFill>
                  <a:srgbClr val="334155"/>
                </a:solidFill>
                <a:latin typeface="Outfit"/>
              </a:defRPr>
            </a:pPr>
            <a:r>
              <a:t>Đảm bảo tính năng cũ hoạt động đúng khi cập nhật.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Kiểm Thử Hộp Trắng (Unit Tests)</a:t>
            </a:r>
          </a:p>
          <a:p>
            <a:pPr>
              <a:spcBef>
                <a:spcPts val="400"/>
              </a:spcBef>
              <a:defRPr sz="1300">
                <a:solidFill>
                  <a:srgbClr val="475569"/>
                </a:solidFill>
                <a:latin typeface="Outfit"/>
              </a:defRPr>
            </a:pPr>
            <a:r>
              <a:t>Xác minh thuật toán nghiệp vụ cô lập ở Backend</a:t>
            </a:r>
          </a:p>
        </p:txBody>
      </p:sp>
      <p:sp>
        <p:nvSpPr>
          <p:cNvPr id="3" name="Rounded Rectangle 2"/>
          <p:cNvSpPr/>
          <p:nvPr/>
        </p:nvSpPr>
        <p:spPr>
          <a:xfrm>
            <a:off x="548640"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Domain Calculators Logic</a:t>
            </a:r>
          </a:p>
          <a:p>
            <a:pPr>
              <a:lnSpc>
                <a:spcPct val="115000"/>
              </a:lnSpc>
              <a:spcBef>
                <a:spcPts val="600"/>
              </a:spcBef>
              <a:defRPr sz="1300">
                <a:solidFill>
                  <a:srgbClr val="334155"/>
                </a:solidFill>
                <a:latin typeface="Outfit"/>
              </a:defRPr>
            </a:pPr>
            <a:r>
              <a:t>ShoppingCart: Thêm, sửa, xóa, tự động cộng dồn số lượng khi trùng SKU sản phẩm.</a:t>
            </a:r>
          </a:p>
          <a:p>
            <a:pPr>
              <a:lnSpc>
                <a:spcPct val="115000"/>
              </a:lnSpc>
              <a:spcBef>
                <a:spcPts val="600"/>
              </a:spcBef>
              <a:defRPr sz="1300">
                <a:solidFill>
                  <a:srgbClr val="334155"/>
                </a:solidFill>
                <a:latin typeface="Outfit"/>
              </a:defRPr>
            </a:pPr>
            <a:r>
              <a:t>ShippingCalculator: Tính phí vận chuyển dựa trên cân nặng thực tế (làm tròn lên kg) và phân vùng địa lý. Tự động miễn cước khi đạt ngưỡng tiền.</a:t>
            </a:r>
          </a:p>
          <a:p>
            <a:pPr>
              <a:lnSpc>
                <a:spcPct val="115000"/>
              </a:lnSpc>
              <a:spcBef>
                <a:spcPts val="600"/>
              </a:spcBef>
              <a:defRPr sz="1300">
                <a:solidFill>
                  <a:srgbClr val="334155"/>
                </a:solidFill>
                <a:latin typeface="Outfit"/>
              </a:defRPr>
            </a:pPr>
            <a:r>
              <a:t>TaxCalculator: Tính đúng thuế VAT theo điểm cơ bản (basis points) và làm tròn lên toán học.</a:t>
            </a:r>
          </a:p>
          <a:p>
            <a:pPr>
              <a:lnSpc>
                <a:spcPct val="115000"/>
              </a:lnSpc>
              <a:spcBef>
                <a:spcPts val="600"/>
              </a:spcBef>
              <a:defRPr sz="1300">
                <a:solidFill>
                  <a:srgbClr val="334155"/>
                </a:solidFill>
                <a:latin typeface="Outfit"/>
              </a:defRPr>
            </a:pPr>
            <a:r>
              <a:t>CouponApplicator: Chặn coupon nếu chưa đạt giá trị tối thiểu đơn hàng, giới hạn tiền giảm tối đa không âm.</a:t>
            </a:r>
          </a:p>
        </p:txBody>
      </p:sp>
      <p:sp>
        <p:nvSpPr>
          <p:cNvPr id="5" name="Rounded Rectangle 4"/>
          <p:cNvSpPr/>
          <p:nvPr/>
        </p:nvSpPr>
        <p:spPr>
          <a:xfrm>
            <a:off x="6248095" y="1645920"/>
            <a:ext cx="5394960" cy="448056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4023360"/>
          </a:xfrm>
          <a:prstGeom prst="rect">
            <a:avLst/>
          </a:prstGeom>
          <a:noFill/>
        </p:spPr>
        <p:txBody>
          <a:bodyPr wrap="square" lIns="0" tIns="0" bIns="0" rIns="0">
            <a:spAutoFit/>
          </a:bodyPr>
          <a:lstStyle/>
          <a:p>
            <a:pPr>
              <a:spcAft>
                <a:spcPts val="1000"/>
              </a:spcAft>
              <a:defRPr sz="1800" b="1">
                <a:solidFill>
                  <a:srgbClr val="7C3AED"/>
                </a:solidFill>
                <a:latin typeface="Outfit"/>
              </a:defRPr>
            </a:pPr>
            <a:r>
              <a:t>PC Builder &amp; State Machines</a:t>
            </a:r>
          </a:p>
          <a:p>
            <a:pPr>
              <a:lnSpc>
                <a:spcPct val="115000"/>
              </a:lnSpc>
              <a:spcBef>
                <a:spcPts val="600"/>
              </a:spcBef>
              <a:defRPr sz="1300">
                <a:solidFill>
                  <a:srgbClr val="334155"/>
                </a:solidFill>
                <a:latin typeface="Outfit"/>
              </a:defRPr>
            </a:pPr>
            <a:r>
              <a:t>PcBuildCompatibility: Đối khớp socket CPU và Mainboard. Đối khớp chuẩn RAM DDR4/DDR5.</a:t>
            </a:r>
          </a:p>
          <a:p>
            <a:pPr>
              <a:lnSpc>
                <a:spcPct val="115000"/>
              </a:lnSpc>
              <a:spcBef>
                <a:spcPts val="600"/>
              </a:spcBef>
              <a:defRPr sz="1300">
                <a:solidFill>
                  <a:srgbClr val="334155"/>
                </a:solidFill>
                <a:latin typeface="Outfit"/>
              </a:defRPr>
            </a:pPr>
            <a:r>
              <a:t>PSU Power check: Tổng công suất cấu hình + 50W dự phòng * 1.2 dung sai. Nguồn PSU phải lớn hơn giá trị này.</a:t>
            </a:r>
          </a:p>
          <a:p>
            <a:pPr>
              <a:lnSpc>
                <a:spcPct val="115000"/>
              </a:lnSpc>
              <a:spcBef>
                <a:spcPts val="600"/>
              </a:spcBef>
              <a:defRPr sz="1300">
                <a:solidFill>
                  <a:srgbClr val="334155"/>
                </a:solidFill>
                <a:latin typeface="Outfit"/>
              </a:defRPr>
            </a:pPr>
            <a:r>
              <a:t>OrderStateMachine: Đơn đi đúng vòng đời trạng thái (pending -&gt; paid -&gt; shipping -&gt; delivered). Chặn bước đi sai logic.</a:t>
            </a:r>
          </a:p>
          <a:p>
            <a:pPr>
              <a:lnSpc>
                <a:spcPct val="115000"/>
              </a:lnSpc>
              <a:spcBef>
                <a:spcPts val="600"/>
              </a:spcBef>
              <a:defRPr sz="1300">
                <a:solidFill>
                  <a:srgbClr val="334155"/>
                </a:solidFill>
                <a:latin typeface="Outfit"/>
              </a:defRPr>
            </a:pPr>
            <a:r>
              <a:t>RMARequestStateMachine: Bảo vệ trạng thái RMA đổi trả bảo hành (Pending -&gt; Approved -&gt; Received -&gt; Refunded).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Kiểm Thử Hộp Đen (Feature &amp; Integration)</a:t>
            </a:r>
          </a:p>
          <a:p>
            <a:pPr>
              <a:spcBef>
                <a:spcPts val="400"/>
              </a:spcBef>
              <a:defRPr sz="1300">
                <a:solidFill>
                  <a:srgbClr val="475569"/>
                </a:solidFill>
                <a:latin typeface="Outfit"/>
              </a:defRPr>
            </a:pPr>
            <a:r>
              <a:t>Đảm bảo tính toàn vẹn của API, cơ sở dữ liệu và bảo mật</a:t>
            </a:r>
          </a:p>
        </p:txBody>
      </p:sp>
      <p:sp>
        <p:nvSpPr>
          <p:cNvPr id="3" name="Rounded Rectangle 2"/>
          <p:cNvSpPr/>
          <p:nvPr/>
        </p:nvSpPr>
        <p:spPr>
          <a:xfrm>
            <a:off x="548640"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Xác Thực, Phân Quyền &amp; Giỏ Hàng</a:t>
            </a:r>
          </a:p>
          <a:p>
            <a:pPr>
              <a:lnSpc>
                <a:spcPct val="115000"/>
              </a:lnSpc>
              <a:spcBef>
                <a:spcPts val="600"/>
              </a:spcBef>
              <a:defRPr sz="1300">
                <a:solidFill>
                  <a:srgbClr val="334155"/>
                </a:solidFill>
                <a:latin typeface="Outfit"/>
              </a:defRPr>
            </a:pPr>
            <a:r>
              <a:t>AuthApiTest: POST /api/auth/register cấp Sanctum token. POST /api/auth/login xác thực bcrypt. POST /api/auth/logout thu hồi token.</a:t>
            </a:r>
          </a:p>
          <a:p>
            <a:pPr>
              <a:lnSpc>
                <a:spcPct val="115000"/>
              </a:lnSpc>
              <a:spcBef>
                <a:spcPts val="600"/>
              </a:spcBef>
              <a:defRPr sz="1300">
                <a:solidFill>
                  <a:srgbClr val="334155"/>
                </a:solidFill>
                <a:latin typeface="Outfit"/>
              </a:defRPr>
            </a:pPr>
            <a:r>
              <a:t>AccessControl: Chặn Staff và Customer CRUD sản phẩm của Admin (trả lỗi 403 Forbidden).</a:t>
            </a:r>
          </a:p>
          <a:p>
            <a:pPr>
              <a:lnSpc>
                <a:spcPct val="115000"/>
              </a:lnSpc>
              <a:spcBef>
                <a:spcPts val="600"/>
              </a:spcBef>
              <a:defRPr sz="1300">
                <a:solidFill>
                  <a:srgbClr val="334155"/>
                </a:solidFill>
                <a:latin typeface="Outfit"/>
              </a:defRPr>
            </a:pPr>
            <a:r>
              <a:t>CartMerge: Tự động gộp cart vãng lai (UUID) sang tài khoản customer sau khi đăng nhập.</a:t>
            </a:r>
          </a:p>
        </p:txBody>
      </p:sp>
      <p:sp>
        <p:nvSpPr>
          <p:cNvPr id="5" name="Rounded Rectangle 4"/>
          <p:cNvSpPr/>
          <p:nvPr/>
        </p:nvSpPr>
        <p:spPr>
          <a:xfrm>
            <a:off x="6248095" y="1645920"/>
            <a:ext cx="5394960" cy="292608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2468880"/>
          </a:xfrm>
          <a:prstGeom prst="rect">
            <a:avLst/>
          </a:prstGeom>
          <a:noFill/>
        </p:spPr>
        <p:txBody>
          <a:bodyPr wrap="square" lIns="0" tIns="0" bIns="0" rIns="0">
            <a:spAutoFit/>
          </a:bodyPr>
          <a:lstStyle/>
          <a:p>
            <a:pPr>
              <a:spcAft>
                <a:spcPts val="1000"/>
              </a:spcAft>
              <a:defRPr sz="1800" b="1">
                <a:solidFill>
                  <a:srgbClr val="7C3AED"/>
                </a:solidFill>
                <a:latin typeface="Outfit"/>
              </a:defRPr>
            </a:pPr>
            <a:r>
              <a:t>DB Transaction &amp; Webhook VietQR</a:t>
            </a:r>
          </a:p>
          <a:p>
            <a:pPr>
              <a:lnSpc>
                <a:spcPct val="115000"/>
              </a:lnSpc>
              <a:spcBef>
                <a:spcPts val="600"/>
              </a:spcBef>
              <a:defRPr sz="1300">
                <a:solidFill>
                  <a:srgbClr val="334155"/>
                </a:solidFill>
                <a:latin typeface="Outfit"/>
              </a:defRPr>
            </a:pPr>
            <a:r>
              <a:t>Database Transaction: Luồng checkout dùng lockForUpdate() khóa dòng tồn kho (Lock bi quan) để tránh race condition bán vượt quá tồn kho.</a:t>
            </a:r>
          </a:p>
          <a:p>
            <a:pPr>
              <a:lnSpc>
                <a:spcPct val="115000"/>
              </a:lnSpc>
              <a:spcBef>
                <a:spcPts val="600"/>
              </a:spcBef>
              <a:defRPr sz="1300">
                <a:solidFill>
                  <a:srgbClr val="334155"/>
                </a:solidFill>
                <a:latin typeface="Outfit"/>
              </a:defRPr>
            </a:pPr>
            <a:r>
              <a:t>VietQR Webhook Verification: POST /api/webhooks/vietqr xác thực chữ ký HMAC SHA256 với Secret Key. Chặn key giả mạo 401.</a:t>
            </a:r>
          </a:p>
          <a:p>
            <a:pPr>
              <a:lnSpc>
                <a:spcPct val="115000"/>
              </a:lnSpc>
              <a:spcBef>
                <a:spcPts val="600"/>
              </a:spcBef>
              <a:defRPr sz="1300">
                <a:solidFill>
                  <a:srgbClr val="334155"/>
                </a:solidFill>
                <a:latin typeface="Outfit"/>
              </a:defRPr>
            </a:pPr>
            <a:r>
              <a:t>Idempotency: Tra cứu bảng processed_webhook_events để chỉ xử lý webhook đúng 1 lần duy nhất.</a:t>
            </a:r>
          </a:p>
        </p:txBody>
      </p:sp>
      <p:sp>
        <p:nvSpPr>
          <p:cNvPr id="7" name="Rectangle 6"/>
          <p:cNvSpPr/>
          <p:nvPr/>
        </p:nvSpPr>
        <p:spPr>
          <a:xfrm>
            <a:off x="6248095" y="4754880"/>
            <a:ext cx="5394960" cy="13716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4937760"/>
            <a:ext cx="5029200" cy="100584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Mã QR VietQR động hiển thị lúc checkout và Webhook đối soát IPN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Kiểm Thử Giao Diện E2E (Playwright)</a:t>
            </a:r>
          </a:p>
          <a:p>
            <a:pPr>
              <a:spcBef>
                <a:spcPts val="400"/>
              </a:spcBef>
              <a:defRPr sz="1300">
                <a:solidFill>
                  <a:srgbClr val="475569"/>
                </a:solidFill>
                <a:latin typeface="Outfit"/>
              </a:defRPr>
            </a:pPr>
            <a:r>
              <a:t>Xác minh các hành trình người dùng thực tế trên browser</a:t>
            </a:r>
          </a:p>
        </p:txBody>
      </p:sp>
      <p:sp>
        <p:nvSpPr>
          <p:cNvPr id="3" name="Rounded Rectangle 2"/>
          <p:cNvSpPr/>
          <p:nvPr/>
        </p:nvSpPr>
        <p:spPr>
          <a:xfrm>
            <a:off x="548640" y="1645920"/>
            <a:ext cx="5394960" cy="29260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2468880"/>
          </a:xfrm>
          <a:prstGeom prst="rect">
            <a:avLst/>
          </a:prstGeom>
          <a:noFill/>
        </p:spPr>
        <p:txBody>
          <a:bodyPr wrap="square" lIns="0" tIns="0" bIns="0" rIns="0">
            <a:spAutoFit/>
          </a:bodyPr>
          <a:lstStyle/>
          <a:p>
            <a:pPr>
              <a:spcAft>
                <a:spcPts val="1000"/>
              </a:spcAft>
              <a:defRPr sz="1800" b="1">
                <a:solidFill>
                  <a:srgbClr val="0284C7"/>
                </a:solidFill>
                <a:latin typeface="Outfit"/>
              </a:defRPr>
            </a:pPr>
            <a:r>
              <a:t>Kịch Bản E2E Trình Duyệt</a:t>
            </a:r>
          </a:p>
          <a:p>
            <a:pPr>
              <a:lnSpc>
                <a:spcPct val="115000"/>
              </a:lnSpc>
              <a:spcBef>
                <a:spcPts val="600"/>
              </a:spcBef>
              <a:defRPr sz="1300">
                <a:solidFill>
                  <a:srgbClr val="334155"/>
                </a:solidFill>
                <a:latin typeface="Outfit"/>
              </a:defRPr>
            </a:pPr>
            <a:r>
              <a:t>Hành trình mua hàng (ui.spec.js): Đăng ký -&gt; Đăng nhập -&gt; Tìm kiếm sản phẩm -&gt; Lắp ráp cấu hình PC Builder tương thích -&gt; Thêm giỏ hàng -&gt; Điền địa chỉ -&gt; Checkout đơn hàng -&gt; Hiển thị mã QR VietQR.</a:t>
            </a:r>
          </a:p>
          <a:p>
            <a:pPr>
              <a:lnSpc>
                <a:spcPct val="115000"/>
              </a:lnSpc>
              <a:spcBef>
                <a:spcPts val="600"/>
              </a:spcBef>
              <a:defRPr sz="1300">
                <a:solidFill>
                  <a:srgbClr val="334155"/>
                </a:solidFill>
                <a:latin typeface="Outfit"/>
              </a:defRPr>
            </a:pPr>
            <a:r>
              <a:t>Quy trình RMA: Khách tạo yêu cầu đổi trả -&gt; Staff login duyệt -&gt; Tồn kho tự động cộng trả lại kho.</a:t>
            </a:r>
          </a:p>
          <a:p>
            <a:pPr>
              <a:lnSpc>
                <a:spcPct val="115000"/>
              </a:lnSpc>
              <a:spcBef>
                <a:spcPts val="600"/>
              </a:spcBef>
              <a:defRPr sz="1300">
                <a:solidFill>
                  <a:srgbClr val="334155"/>
                </a:solidFill>
                <a:latin typeface="Outfit"/>
              </a:defRPr>
            </a:pPr>
            <a:r>
              <a:t>Thời gian tải trang SPA (Vue 3) kiểm chứng dưới 1.0 giây và đạt responsive tương thích.</a:t>
            </a:r>
          </a:p>
        </p:txBody>
      </p:sp>
      <p:sp>
        <p:nvSpPr>
          <p:cNvPr id="5" name="Rectangle 4"/>
          <p:cNvSpPr/>
          <p:nvPr/>
        </p:nvSpPr>
        <p:spPr>
          <a:xfrm>
            <a:off x="548640" y="4754880"/>
            <a:ext cx="5394960" cy="13716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937760"/>
            <a:ext cx="5029200" cy="100584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Trang dựng cấu hình máy tính PC Builder của ECM Project</a:t>
            </a:r>
          </a:p>
        </p:txBody>
      </p:sp>
      <p:sp>
        <p:nvSpPr>
          <p:cNvPr id="7" name="Rounded Rectangle 6"/>
          <p:cNvSpPr/>
          <p:nvPr/>
        </p:nvSpPr>
        <p:spPr>
          <a:xfrm>
            <a:off x="6248095" y="1645920"/>
            <a:ext cx="5394960" cy="448056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74520"/>
            <a:ext cx="4754880" cy="4023360"/>
          </a:xfrm>
          <a:prstGeom prst="rect">
            <a:avLst/>
          </a:prstGeom>
          <a:noFill/>
        </p:spPr>
        <p:txBody>
          <a:bodyPr wrap="square" lIns="0" tIns="0" bIns="0" rIns="0">
            <a:spAutoFit/>
          </a:bodyPr>
          <a:lstStyle/>
          <a:p>
            <a:pPr>
              <a:spcAft>
                <a:spcPts val="1000"/>
              </a:spcAft>
              <a:defRPr sz="1800" b="1">
                <a:solidFill>
                  <a:srgbClr val="7C3AED"/>
                </a:solidFill>
                <a:latin typeface="Outfit"/>
              </a:defRPr>
            </a:pPr>
            <a:r>
              <a:t>UI Test Runner Dashboard (Port 8765)</a:t>
            </a:r>
          </a:p>
          <a:p>
            <a:pPr>
              <a:lnSpc>
                <a:spcPct val="115000"/>
              </a:lnSpc>
              <a:spcBef>
                <a:spcPts val="600"/>
              </a:spcBef>
              <a:defRPr sz="1300">
                <a:solidFill>
                  <a:srgbClr val="334155"/>
                </a:solidFill>
                <a:latin typeface="Outfit"/>
              </a:defRPr>
            </a:pPr>
            <a:r>
              <a:t>Công cụ chạy test trực quan cục bộ giúp quản lý tập trung:</a:t>
            </a:r>
          </a:p>
          <a:p>
            <a:pPr lvl="1">
              <a:lnSpc>
                <a:spcPct val="115000"/>
              </a:lnSpc>
              <a:spcBef>
                <a:spcPts val="600"/>
              </a:spcBef>
              <a:defRPr sz="1200">
                <a:solidFill>
                  <a:srgbClr val="475569"/>
                </a:solidFill>
                <a:latin typeface="Outfit"/>
              </a:defRPr>
            </a:pPr>
            <a:r>
              <a:t>  - Tải lên file collection JSON.</a:t>
            </a:r>
          </a:p>
          <a:p>
            <a:pPr lvl="1">
              <a:lnSpc>
                <a:spcPct val="115000"/>
              </a:lnSpc>
              <a:spcBef>
                <a:spcPts val="600"/>
              </a:spcBef>
              <a:defRPr sz="1200">
                <a:solidFill>
                  <a:srgbClr val="475569"/>
                </a:solidFill>
                <a:latin typeface="Outfit"/>
              </a:defRPr>
            </a:pPr>
            <a:r>
              <a:t>  - Chạy quét route Laravel backend sinh testcase.</a:t>
            </a:r>
          </a:p>
          <a:p>
            <a:pPr lvl="1">
              <a:lnSpc>
                <a:spcPct val="115000"/>
              </a:lnSpc>
              <a:spcBef>
                <a:spcPts val="600"/>
              </a:spcBef>
              <a:defRPr sz="1200">
                <a:solidFill>
                  <a:srgbClr val="475569"/>
                </a:solidFill>
                <a:latin typeface="Outfit"/>
              </a:defRPr>
            </a:pPr>
            <a:r>
              <a:t>  - Bấm nút trigger API suite, chạy trực tiếp request HTTP.</a:t>
            </a:r>
          </a:p>
          <a:p>
            <a:pPr lvl="1">
              <a:lnSpc>
                <a:spcPct val="115000"/>
              </a:lnSpc>
              <a:spcBef>
                <a:spcPts val="600"/>
              </a:spcBef>
              <a:defRPr sz="1200">
                <a:solidFill>
                  <a:srgbClr val="475569"/>
                </a:solidFill>
                <a:latin typeface="Outfit"/>
              </a:defRPr>
            </a:pPr>
            <a:r>
              <a:t>  - Hiển thị kết quả Pass/Fail và logs thời gian thực.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Sinh Testcase Bằng AI RAG Generator</a:t>
            </a:r>
          </a:p>
          <a:p>
            <a:pPr>
              <a:spcBef>
                <a:spcPts val="400"/>
              </a:spcBef>
              <a:defRPr sz="1300">
                <a:solidFill>
                  <a:srgbClr val="475569"/>
                </a:solidFill>
                <a:latin typeface="Outfit"/>
              </a:defRPr>
            </a:pPr>
            <a:r>
              <a:t>Quét mã nguồn và tự động tạo ca kiểm thử thông minh bằng LLM</a:t>
            </a:r>
          </a:p>
        </p:txBody>
      </p:sp>
      <p:sp>
        <p:nvSpPr>
          <p:cNvPr id="3" name="Rounded Rectangle 2"/>
          <p:cNvSpPr/>
          <p:nvPr/>
        </p:nvSpPr>
        <p:spPr>
          <a:xfrm>
            <a:off x="548640"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Nguyên Lý Hoạt Động</a:t>
            </a:r>
          </a:p>
          <a:p>
            <a:pPr>
              <a:lnSpc>
                <a:spcPct val="115000"/>
              </a:lnSpc>
              <a:spcBef>
                <a:spcPts val="600"/>
              </a:spcBef>
              <a:defRPr sz="1300">
                <a:solidFill>
                  <a:srgbClr val="334155"/>
                </a:solidFill>
                <a:latin typeface="Outfit"/>
              </a:defRPr>
            </a:pPr>
            <a:r>
              <a:t>Scanner CLI: Module Python quét route, validation rules, migrations và seeders để hiểu cấu trúc dự án.</a:t>
            </a:r>
          </a:p>
          <a:p>
            <a:pPr>
              <a:lnSpc>
                <a:spcPct val="115000"/>
              </a:lnSpc>
              <a:spcBef>
                <a:spcPts val="600"/>
              </a:spcBef>
              <a:defRPr sz="1300">
                <a:solidFill>
                  <a:srgbClr val="334155"/>
                </a:solidFill>
                <a:latin typeface="Outfit"/>
              </a:defRPr>
            </a:pPr>
            <a:r>
              <a:t>Context Retriever: Trích xuất local context chuyển hóa thành prompt có cấu trúc gửi lên LLM.</a:t>
            </a:r>
          </a:p>
          <a:p>
            <a:pPr>
              <a:lnSpc>
                <a:spcPct val="115000"/>
              </a:lnSpc>
              <a:spcBef>
                <a:spcPts val="600"/>
              </a:spcBef>
              <a:defRPr sz="1300">
                <a:solidFill>
                  <a:srgbClr val="334155"/>
                </a:solidFill>
                <a:latin typeface="Outfit"/>
              </a:defRPr>
            </a:pPr>
            <a:r>
              <a:t>LLM Generation: Gọi mô hình Qwen2.5-Coder hoặc GPT-4o-mini sinh testcase API dạng JSON.</a:t>
            </a:r>
          </a:p>
          <a:p>
            <a:pPr>
              <a:lnSpc>
                <a:spcPct val="115000"/>
              </a:lnSpc>
              <a:spcBef>
                <a:spcPts val="600"/>
              </a:spcBef>
              <a:defRPr sz="1300">
                <a:solidFill>
                  <a:srgbClr val="334155"/>
                </a:solidFill>
                <a:latin typeface="Outfit"/>
              </a:defRPr>
            </a:pPr>
            <a:r>
              <a:t>Lợi ích: Giảm thiểu công sức viết tay test case, đồng bộ hóa 100% với sự thay đổi validation rules.</a:t>
            </a:r>
          </a:p>
        </p:txBody>
      </p:sp>
      <p:sp>
        <p:nvSpPr>
          <p:cNvPr id="5" name="Rounded Rectangle 4"/>
          <p:cNvSpPr/>
          <p:nvPr/>
        </p:nvSpPr>
        <p:spPr>
          <a:xfrm>
            <a:off x="6248095" y="1645920"/>
            <a:ext cx="5394960" cy="292608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2468880"/>
          </a:xfrm>
          <a:prstGeom prst="rect">
            <a:avLst/>
          </a:prstGeom>
          <a:noFill/>
        </p:spPr>
        <p:txBody>
          <a:bodyPr wrap="square" lIns="0" tIns="0" bIns="0" rIns="0">
            <a:spAutoFit/>
          </a:bodyPr>
          <a:lstStyle/>
          <a:p>
            <a:pPr>
              <a:spcAft>
                <a:spcPts val="1000"/>
              </a:spcAft>
              <a:defRPr sz="1800" b="1">
                <a:solidFill>
                  <a:srgbClr val="7C3AED"/>
                </a:solidFill>
                <a:latin typeface="Outfit"/>
              </a:defRPr>
            </a:pPr>
            <a:r>
              <a:t>Cấu Trúc Ca Kiểm Thử Được Sinh</a:t>
            </a:r>
          </a:p>
          <a:p>
            <a:pPr>
              <a:lnSpc>
                <a:spcPct val="115000"/>
              </a:lnSpc>
              <a:spcBef>
                <a:spcPts val="600"/>
              </a:spcBef>
              <a:defRPr sz="1300">
                <a:solidFill>
                  <a:srgbClr val="334155"/>
                </a:solidFill>
                <a:latin typeface="Outfit"/>
              </a:defRPr>
            </a:pPr>
            <a:r>
              <a:t>Định dạng JSON chuẩn chỉnh chứa:</a:t>
            </a:r>
          </a:p>
          <a:p>
            <a:pPr lvl="1">
              <a:lnSpc>
                <a:spcPct val="115000"/>
              </a:lnSpc>
              <a:spcBef>
                <a:spcPts val="600"/>
              </a:spcBef>
              <a:defRPr sz="1200">
                <a:solidFill>
                  <a:srgbClr val="475569"/>
                </a:solidFill>
                <a:latin typeface="Outfit"/>
              </a:defRPr>
            </a:pPr>
            <a:r>
              <a:t>  - Endpoint URL và Method (GET, POST, PUT, DELETE).</a:t>
            </a:r>
          </a:p>
          <a:p>
            <a:pPr lvl="1">
              <a:lnSpc>
                <a:spcPct val="115000"/>
              </a:lnSpc>
              <a:spcBef>
                <a:spcPts val="600"/>
              </a:spcBef>
              <a:defRPr sz="1200">
                <a:solidFill>
                  <a:srgbClr val="475569"/>
                </a:solidFill>
                <a:latin typeface="Outfit"/>
              </a:defRPr>
            </a:pPr>
            <a:r>
              <a:t>  - Body payload mẫu (hợp lệ và lỗi validation).</a:t>
            </a:r>
          </a:p>
          <a:p>
            <a:pPr lvl="1">
              <a:lnSpc>
                <a:spcPct val="115000"/>
              </a:lnSpc>
              <a:spcBef>
                <a:spcPts val="600"/>
              </a:spcBef>
              <a:defRPr sz="1200">
                <a:solidFill>
                  <a:srgbClr val="475569"/>
                </a:solidFill>
                <a:latin typeface="Outfit"/>
              </a:defRPr>
            </a:pPr>
            <a:r>
              <a:t>  - Kết quả mong đợi (Status expected, body_contains).</a:t>
            </a:r>
          </a:p>
        </p:txBody>
      </p:sp>
      <p:sp>
        <p:nvSpPr>
          <p:cNvPr id="7" name="Rectangle 6"/>
          <p:cNvSpPr/>
          <p:nvPr/>
        </p:nvSpPr>
        <p:spPr>
          <a:xfrm>
            <a:off x="6248095" y="4754880"/>
            <a:ext cx="5394960" cy="13716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4937760"/>
            <a:ext cx="5029200" cy="100584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Danh sách testcase được AI sinh hiển thị trên Automation UI Runner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Quản Lý Lỗi &amp; Xử Lý Sự Cố (Defect Reports)</a:t>
            </a:r>
          </a:p>
          <a:p>
            <a:pPr>
              <a:spcBef>
                <a:spcPts val="400"/>
              </a:spcBef>
              <a:defRPr sz="1300">
                <a:solidFill>
                  <a:srgbClr val="475569"/>
                </a:solidFill>
                <a:latin typeface="Outfit"/>
              </a:defRPr>
            </a:pPr>
            <a:r>
              <a:t>Xử lý các lỗi phát hiện trong quá trình chạy thử nghiệm</a:t>
            </a:r>
          </a:p>
        </p:txBody>
      </p:sp>
      <p:sp>
        <p:nvSpPr>
          <p:cNvPr id="3" name="Rounded Rectangle 2"/>
          <p:cNvSpPr/>
          <p:nvPr/>
        </p:nvSpPr>
        <p:spPr>
          <a:xfrm>
            <a:off x="548640" y="1645920"/>
            <a:ext cx="5394960" cy="448056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DC2626"/>
                </a:solidFill>
                <a:latin typeface="Outfit"/>
              </a:defRPr>
            </a:pPr>
            <a:r>
              <a:t>Phân Loại Lỗi Hệ Thống</a:t>
            </a:r>
          </a:p>
          <a:p>
            <a:pPr>
              <a:lnSpc>
                <a:spcPct val="115000"/>
              </a:lnSpc>
              <a:spcBef>
                <a:spcPts val="600"/>
              </a:spcBef>
              <a:defRPr sz="1300">
                <a:solidFill>
                  <a:srgbClr val="334155"/>
                </a:solidFill>
                <a:latin typeface="Outfit"/>
              </a:defRPr>
            </a:pPr>
            <a:r>
              <a:t>Level 1 - Blocker: Lỗi gây sập hệ thống, chặn đứng kiểm thử (Ví dụ: Deadlock database, lỗi build compiler).</a:t>
            </a:r>
          </a:p>
          <a:p>
            <a:pPr>
              <a:lnSpc>
                <a:spcPct val="115000"/>
              </a:lnSpc>
              <a:spcBef>
                <a:spcPts val="600"/>
              </a:spcBef>
              <a:defRPr sz="1300">
                <a:solidFill>
                  <a:srgbClr val="334155"/>
                </a:solidFill>
                <a:latin typeface="Outfit"/>
              </a:defRPr>
            </a:pPr>
            <a:r>
              <a:t>Level 2 - Critical: Tính năng cốt lõi bị lỗi nặng (Ví dụ: Tính sai tổng tiền đơn hàng, webhook thanh toán lỗi).</a:t>
            </a:r>
          </a:p>
          <a:p>
            <a:pPr>
              <a:lnSpc>
                <a:spcPct val="115000"/>
              </a:lnSpc>
              <a:spcBef>
                <a:spcPts val="600"/>
              </a:spcBef>
              <a:defRPr sz="1300">
                <a:solidFill>
                  <a:srgbClr val="334155"/>
                </a:solidFill>
                <a:latin typeface="Outfit"/>
              </a:defRPr>
            </a:pPr>
            <a:r>
              <a:t>Level 3 - Major: Trải nghiệm người dùng bị ảnh hưởng, có cách thay thế (Ví dụ: Wishlist lỗi, so sánh sản phẩm lỗi).</a:t>
            </a:r>
          </a:p>
          <a:p>
            <a:pPr>
              <a:lnSpc>
                <a:spcPct val="115000"/>
              </a:lnSpc>
              <a:spcBef>
                <a:spcPts val="600"/>
              </a:spcBef>
              <a:defRPr sz="1300">
                <a:solidFill>
                  <a:srgbClr val="334155"/>
                </a:solidFill>
                <a:latin typeface="Outfit"/>
              </a:defRPr>
            </a:pPr>
            <a:r>
              <a:t>Level 4 - Minor: Giao diện hiển thị nhỏ (Ví dụ: Sai font chữ, lệch nút, lỗi chính tả).</a:t>
            </a:r>
          </a:p>
        </p:txBody>
      </p:sp>
      <p:sp>
        <p:nvSpPr>
          <p:cNvPr id="5" name="Rounded Rectangle 4"/>
          <p:cNvSpPr/>
          <p:nvPr/>
        </p:nvSpPr>
        <p:spPr>
          <a:xfrm>
            <a:off x="6248095" y="1645920"/>
            <a:ext cx="5394960" cy="292608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2468880"/>
          </a:xfrm>
          <a:prstGeom prst="rect">
            <a:avLst/>
          </a:prstGeom>
          <a:noFill/>
        </p:spPr>
        <p:txBody>
          <a:bodyPr wrap="square" lIns="0" tIns="0" bIns="0" rIns="0">
            <a:spAutoFit/>
          </a:bodyPr>
          <a:lstStyle/>
          <a:p>
            <a:pPr>
              <a:spcAft>
                <a:spcPts val="1000"/>
              </a:spcAft>
              <a:defRPr sz="1800" b="1">
                <a:solidFill>
                  <a:srgbClr val="0284C7"/>
                </a:solidFill>
                <a:latin typeface="Outfit"/>
              </a:defRPr>
            </a:pPr>
            <a:r>
              <a:t>Các Sự Cố Demo Đã Xử Lý</a:t>
            </a:r>
          </a:p>
          <a:p>
            <a:pPr>
              <a:lnSpc>
                <a:spcPct val="115000"/>
              </a:lnSpc>
              <a:spcBef>
                <a:spcPts val="600"/>
              </a:spcBef>
              <a:defRPr sz="1300">
                <a:solidFill>
                  <a:srgbClr val="334155"/>
                </a:solidFill>
                <a:latin typeface="Outfit"/>
              </a:defRPr>
            </a:pPr>
            <a:r>
              <a:t>Sự cố 01: Thiếu seeder tài khoản mặc định (Critical)</a:t>
            </a:r>
          </a:p>
          <a:p>
            <a:pPr lvl="1">
              <a:lnSpc>
                <a:spcPct val="115000"/>
              </a:lnSpc>
              <a:spcBef>
                <a:spcPts val="600"/>
              </a:spcBef>
              <a:defRPr sz="1200">
                <a:solidFill>
                  <a:srgbClr val="475569"/>
                </a:solidFill>
                <a:latin typeface="Outfit"/>
              </a:defRPr>
            </a:pPr>
            <a:r>
              <a:t>  - Mô tả: Chạy E2E Playwright bị lỗi 401 Unauthorized do thiếu tài khoản mặc định trong DB SQLite.</a:t>
            </a:r>
          </a:p>
          <a:p>
            <a:pPr lvl="1">
              <a:lnSpc>
                <a:spcPct val="115000"/>
              </a:lnSpc>
              <a:spcBef>
                <a:spcPts val="600"/>
              </a:spcBef>
              <a:defRPr sz="1200">
                <a:solidFill>
                  <a:srgbClr val="475569"/>
                </a:solidFill>
                <a:latin typeface="Outfit"/>
              </a:defRPr>
            </a:pPr>
            <a:r>
              <a:t>  - Xử lý: Cập nhật DatabaseSeeder tự động chạy UserRoleSeeder nạp các tài khoản test mặc định.</a:t>
            </a:r>
          </a:p>
          <a:p>
            <a:pPr>
              <a:lnSpc>
                <a:spcPct val="115000"/>
              </a:lnSpc>
              <a:spcBef>
                <a:spcPts val="600"/>
              </a:spcBef>
              <a:defRPr sz="1300">
                <a:solidFill>
                  <a:srgbClr val="334155"/>
                </a:solidFill>
                <a:latin typeface="Outfit"/>
              </a:defRPr>
            </a:pPr>
            <a:r>
              <a:t>Sự cố 02: Playwright API Timeout (Major)</a:t>
            </a:r>
          </a:p>
          <a:p>
            <a:pPr lvl="1">
              <a:lnSpc>
                <a:spcPct val="115000"/>
              </a:lnSpc>
              <a:spcBef>
                <a:spcPts val="600"/>
              </a:spcBef>
              <a:defRPr sz="1200">
                <a:solidFill>
                  <a:srgbClr val="475569"/>
                </a:solidFill>
                <a:latin typeface="Outfit"/>
              </a:defRPr>
            </a:pPr>
            <a:r>
              <a:t>  - Mô tả: Chạy tuần tự hơn 50 API tốn 110s, vượt timeout 90s.</a:t>
            </a:r>
          </a:p>
        </p:txBody>
      </p:sp>
      <p:sp>
        <p:nvSpPr>
          <p:cNvPr id="7" name="Rectangle 6"/>
          <p:cNvSpPr/>
          <p:nvPr/>
        </p:nvSpPr>
        <p:spPr>
          <a:xfrm>
            <a:off x="6248095" y="4754880"/>
            <a:ext cx="5394960" cy="13716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30975" y="4937760"/>
            <a:ext cx="5029200" cy="100584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Log lỗi timeout của Playwright API suite khi chưa được khắc phục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Kết Quả Thực Thi Kiểm Thử</a:t>
            </a:r>
          </a:p>
          <a:p>
            <a:pPr>
              <a:spcBef>
                <a:spcPts val="400"/>
              </a:spcBef>
              <a:defRPr sz="1300">
                <a:solidFill>
                  <a:srgbClr val="475569"/>
                </a:solidFill>
                <a:latin typeface="Outfit"/>
              </a:defRPr>
            </a:pPr>
            <a:r>
              <a:t>Bảng thống kê tỷ lệ hoàn thành test suite</a:t>
            </a:r>
          </a:p>
        </p:txBody>
      </p:sp>
      <p:sp>
        <p:nvSpPr>
          <p:cNvPr id="3" name="Rounded Rectangle 2"/>
          <p:cNvSpPr/>
          <p:nvPr/>
        </p:nvSpPr>
        <p:spPr>
          <a:xfrm>
            <a:off x="548640" y="1645920"/>
            <a:ext cx="5394960" cy="2926080"/>
          </a:xfrm>
          <a:prstGeom prst="roundRect">
            <a:avLst/>
          </a:prstGeom>
          <a:solidFill>
            <a:srgbClr val="FFFFFF"/>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2468880"/>
          </a:xfrm>
          <a:prstGeom prst="rect">
            <a:avLst/>
          </a:prstGeom>
          <a:noFill/>
        </p:spPr>
        <p:txBody>
          <a:bodyPr wrap="square" lIns="0" tIns="0" bIns="0" rIns="0">
            <a:spAutoFit/>
          </a:bodyPr>
          <a:lstStyle/>
          <a:p>
            <a:pPr>
              <a:spcAft>
                <a:spcPts val="1000"/>
              </a:spcAft>
              <a:defRPr sz="1800" b="1">
                <a:solidFill>
                  <a:srgbClr val="059669"/>
                </a:solidFill>
                <a:latin typeface="Outfit"/>
              </a:defRPr>
            </a:pPr>
            <a:r>
              <a:t>Kết Quả PHPUnit &amp; Playwright</a:t>
            </a:r>
          </a:p>
          <a:p>
            <a:pPr>
              <a:lnSpc>
                <a:spcPct val="115000"/>
              </a:lnSpc>
              <a:spcBef>
                <a:spcPts val="600"/>
              </a:spcBef>
              <a:defRPr sz="1300">
                <a:solidFill>
                  <a:srgbClr val="334155"/>
                </a:solidFill>
                <a:latin typeface="Outfit"/>
              </a:defRPr>
            </a:pPr>
            <a:r>
              <a:t>Backend PHPUnit Test Suite: 111 tests, 311 assertions, 100% Passed.</a:t>
            </a:r>
          </a:p>
          <a:p>
            <a:pPr>
              <a:lnSpc>
                <a:spcPct val="115000"/>
              </a:lnSpc>
              <a:spcBef>
                <a:spcPts val="600"/>
              </a:spcBef>
              <a:defRPr sz="1300">
                <a:solidFill>
                  <a:srgbClr val="334155"/>
                </a:solidFill>
                <a:latin typeface="Outfit"/>
              </a:defRPr>
            </a:pPr>
            <a:r>
              <a:t>Playwright E2E UI Suite: 2 file specs passed (ui.spec.js và api-suite.spec.js).</a:t>
            </a:r>
          </a:p>
          <a:p>
            <a:pPr>
              <a:lnSpc>
                <a:spcPct val="115000"/>
              </a:lnSpc>
              <a:spcBef>
                <a:spcPts val="600"/>
              </a:spcBef>
              <a:defRPr sz="1300">
                <a:solidFill>
                  <a:srgbClr val="334155"/>
                </a:solidFill>
                <a:latin typeface="Outfit"/>
              </a:defRPr>
            </a:pPr>
            <a:r>
              <a:t>Thời gian chạy: Backend 3.20 giây | Playwright E2E 2.1 phút.</a:t>
            </a:r>
          </a:p>
        </p:txBody>
      </p:sp>
      <p:sp>
        <p:nvSpPr>
          <p:cNvPr id="5" name="Rectangle 4"/>
          <p:cNvSpPr/>
          <p:nvPr/>
        </p:nvSpPr>
        <p:spPr>
          <a:xfrm>
            <a:off x="548640" y="4754880"/>
            <a:ext cx="5394960" cy="1371600"/>
          </a:xfrm>
          <a:prstGeom prst="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937760"/>
            <a:ext cx="5029200" cy="1005840"/>
          </a:xfrm>
          <a:prstGeom prst="rect">
            <a:avLst/>
          </a:prstGeom>
          <a:noFill/>
        </p:spPr>
        <p:txBody>
          <a:bodyPr wrap="square" lIns="0" tIns="0" bIns="0" rIns="0">
            <a:spAutoFit/>
          </a:bodyPr>
          <a:lstStyle/>
          <a:p>
            <a:pPr algn="ctr">
              <a:spcAft>
                <a:spcPts val="600"/>
              </a:spcAft>
              <a:defRPr sz="1100" b="1">
                <a:solidFill>
                  <a:srgbClr val="475569"/>
                </a:solidFill>
                <a:latin typeface="Outfit"/>
              </a:defRPr>
            </a:pPr>
            <a:r>
              <a:t>📷  [ CHÈN ẢNH MINH HỌA ]</a:t>
            </a:r>
          </a:p>
          <a:p>
            <a:pPr algn="ctr">
              <a:defRPr sz="1000">
                <a:solidFill>
                  <a:srgbClr val="475569"/>
                </a:solidFill>
                <a:latin typeface="Outfit"/>
              </a:defRPr>
            </a:pPr>
            <a:r>
              <a:t>Log chạy terminal thành công 100% của PHPUnit và Playwright E2E</a:t>
            </a:r>
          </a:p>
        </p:txBody>
      </p:sp>
      <p:sp>
        <p:nvSpPr>
          <p:cNvPr id="7" name="Rounded Rectangle 6"/>
          <p:cNvSpPr/>
          <p:nvPr/>
        </p:nvSpPr>
        <p:spPr>
          <a:xfrm>
            <a:off x="6248095"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68135"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Đạt Tiêu Chỉ Hoàn Thành (Exit Criteria)</a:t>
            </a:r>
          </a:p>
          <a:p>
            <a:pPr>
              <a:lnSpc>
                <a:spcPct val="115000"/>
              </a:lnSpc>
              <a:spcBef>
                <a:spcPts val="600"/>
              </a:spcBef>
              <a:defRPr sz="1300">
                <a:solidFill>
                  <a:srgbClr val="334155"/>
                </a:solidFill>
                <a:latin typeface="Outfit"/>
              </a:defRPr>
            </a:pPr>
            <a:r>
              <a:t>Tỷ lệ pass PHPUnit và Playwright đạt 100%.</a:t>
            </a:r>
          </a:p>
          <a:p>
            <a:pPr>
              <a:lnSpc>
                <a:spcPct val="115000"/>
              </a:lnSpc>
              <a:spcBef>
                <a:spcPts val="600"/>
              </a:spcBef>
              <a:defRPr sz="1300">
                <a:solidFill>
                  <a:srgbClr val="334155"/>
                </a:solidFill>
                <a:latin typeface="Outfit"/>
              </a:defRPr>
            </a:pPr>
            <a:r>
              <a:t>Tỷ lệ lỗi tồn dư mức Blocker / Critical đạt 0%.</a:t>
            </a:r>
          </a:p>
          <a:p>
            <a:pPr>
              <a:lnSpc>
                <a:spcPct val="115000"/>
              </a:lnSpc>
              <a:spcBef>
                <a:spcPts val="600"/>
              </a:spcBef>
              <a:defRPr sz="1300">
                <a:solidFill>
                  <a:srgbClr val="334155"/>
                </a:solidFill>
                <a:latin typeface="Outfit"/>
              </a:defRPr>
            </a:pPr>
            <a:r>
              <a:t>Tất cả các lỗi nghiêm trọng phát hiện đã được khắc phục hoàn toàn trên Git repository.</a:t>
            </a:r>
          </a:p>
          <a:p>
            <a:pPr>
              <a:lnSpc>
                <a:spcPct val="115000"/>
              </a:lnSpc>
              <a:spcBef>
                <a:spcPts val="600"/>
              </a:spcBef>
              <a:defRPr sz="1300">
                <a:solidFill>
                  <a:srgbClr val="334155"/>
                </a:solidFill>
                <a:latin typeface="Outfit"/>
              </a:defRPr>
            </a:pPr>
            <a:r>
              <a:t>Postman collection 'Backend API Full Route Coverage' phản hồi đúng mã trạng thái mong đợi.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1097280"/>
          </a:xfrm>
          <a:prstGeom prst="rect">
            <a:avLst/>
          </a:prstGeom>
          <a:noFill/>
        </p:spPr>
        <p:txBody>
          <a:bodyPr wrap="square" lIns="0" tIns="0" bIns="0" rIns="0">
            <a:spAutoFit/>
          </a:bodyPr>
          <a:lstStyle/>
          <a:p>
            <a:pPr>
              <a:defRPr sz="2800" b="1">
                <a:solidFill>
                  <a:srgbClr val="0F172A"/>
                </a:solidFill>
                <a:latin typeface="Outfit"/>
              </a:defRPr>
            </a:pPr>
            <a:r>
              <a:t>Đánh Giá Quy Trình &amp; Kết Luận</a:t>
            </a:r>
          </a:p>
          <a:p>
            <a:pPr>
              <a:spcBef>
                <a:spcPts val="400"/>
              </a:spcBef>
              <a:defRPr sz="1300">
                <a:solidFill>
                  <a:srgbClr val="475569"/>
                </a:solidFill>
                <a:latin typeface="Outfit"/>
              </a:defRPr>
            </a:pPr>
            <a:r>
              <a:t>Nhận định tổng quan về dự án và đóng góp của AI</a:t>
            </a:r>
          </a:p>
        </p:txBody>
      </p:sp>
      <p:sp>
        <p:nvSpPr>
          <p:cNvPr id="3" name="Rounded Rectangle 2"/>
          <p:cNvSpPr/>
          <p:nvPr/>
        </p:nvSpPr>
        <p:spPr>
          <a:xfrm>
            <a:off x="548640" y="1645920"/>
            <a:ext cx="5394960" cy="448056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874520"/>
            <a:ext cx="4754880" cy="4023360"/>
          </a:xfrm>
          <a:prstGeom prst="rect">
            <a:avLst/>
          </a:prstGeom>
          <a:noFill/>
        </p:spPr>
        <p:txBody>
          <a:bodyPr wrap="square" lIns="0" tIns="0" bIns="0" rIns="0">
            <a:spAutoFit/>
          </a:bodyPr>
          <a:lstStyle/>
          <a:p>
            <a:pPr>
              <a:spcAft>
                <a:spcPts val="1000"/>
              </a:spcAft>
              <a:defRPr sz="1800" b="1">
                <a:solidFill>
                  <a:srgbClr val="0284C7"/>
                </a:solidFill>
                <a:latin typeface="Outfit"/>
              </a:defRPr>
            </a:pPr>
            <a:r>
              <a:t>Đánh Giá Quy Trình QA</a:t>
            </a:r>
          </a:p>
          <a:p>
            <a:pPr>
              <a:lnSpc>
                <a:spcPct val="115000"/>
              </a:lnSpc>
              <a:spcBef>
                <a:spcPts val="600"/>
              </a:spcBef>
              <a:defRPr sz="1300">
                <a:solidFill>
                  <a:srgbClr val="334155"/>
                </a:solidFill>
                <a:latin typeface="Outfit"/>
              </a:defRPr>
            </a:pPr>
            <a:r>
              <a:t>Độ bao phủ cao: Kết hợp đầy đủ 3 mức độ (Unit, Integration, E2E UI).</a:t>
            </a:r>
          </a:p>
          <a:p>
            <a:pPr>
              <a:lnSpc>
                <a:spcPct val="115000"/>
              </a:lnSpc>
              <a:spcBef>
                <a:spcPts val="600"/>
              </a:spcBef>
              <a:defRPr sz="1300">
                <a:solidFill>
                  <a:srgbClr val="334155"/>
                </a:solidFill>
                <a:latin typeface="Outfit"/>
              </a:defRPr>
            </a:pPr>
            <a:r>
              <a:t>Tốc độ chạy test vượt trội: Nhờ database SQLite in-memory chạy cục bộ chỉ tốn hơn 3 giây.</a:t>
            </a:r>
          </a:p>
          <a:p>
            <a:pPr>
              <a:lnSpc>
                <a:spcPct val="115000"/>
              </a:lnSpc>
              <a:spcBef>
                <a:spcPts val="600"/>
              </a:spcBef>
              <a:defRPr sz="1300">
                <a:solidFill>
                  <a:srgbClr val="334155"/>
                </a:solidFill>
                <a:latin typeface="Outfit"/>
              </a:defRPr>
            </a:pPr>
            <a:r>
              <a:t>Tính độc lập cao: Áp dụng Eager Loading tối ưu DB và Mocking (Notification::fake, Event::fake) tránh phụ thuộc dịch vụ ngoài.</a:t>
            </a:r>
          </a:p>
          <a:p>
            <a:pPr>
              <a:lnSpc>
                <a:spcPct val="115000"/>
              </a:lnSpc>
              <a:spcBef>
                <a:spcPts val="600"/>
              </a:spcBef>
              <a:defRPr sz="1300">
                <a:solidFill>
                  <a:srgbClr val="334155"/>
                </a:solidFill>
                <a:latin typeface="Outfit"/>
              </a:defRPr>
            </a:pPr>
            <a:r>
              <a:t>Bảo mật tin cậy: Webhook VietQR được bảo vệ bằng HMAC SHA256.</a:t>
            </a:r>
          </a:p>
        </p:txBody>
      </p:sp>
      <p:sp>
        <p:nvSpPr>
          <p:cNvPr id="5" name="Rounded Rectangle 4"/>
          <p:cNvSpPr/>
          <p:nvPr/>
        </p:nvSpPr>
        <p:spPr>
          <a:xfrm>
            <a:off x="6248095" y="1645920"/>
            <a:ext cx="5394960" cy="4480560"/>
          </a:xfrm>
          <a:prstGeom prst="roundRect">
            <a:avLst/>
          </a:prstGeom>
          <a:solidFill>
            <a:srgbClr val="FFFFFF"/>
          </a:solidFill>
          <a:ln w="1905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68135" y="1874520"/>
            <a:ext cx="4754880" cy="4023360"/>
          </a:xfrm>
          <a:prstGeom prst="rect">
            <a:avLst/>
          </a:prstGeom>
          <a:noFill/>
        </p:spPr>
        <p:txBody>
          <a:bodyPr wrap="square" lIns="0" tIns="0" bIns="0" rIns="0">
            <a:spAutoFit/>
          </a:bodyPr>
          <a:lstStyle/>
          <a:p>
            <a:pPr>
              <a:spcAft>
                <a:spcPts val="1000"/>
              </a:spcAft>
              <a:defRPr sz="1800" b="1">
                <a:solidFill>
                  <a:srgbClr val="7C3AED"/>
                </a:solidFill>
                <a:latin typeface="Outfit"/>
              </a:defRPr>
            </a:pPr>
            <a:r>
              <a:t>Kết Luận &amp; Vai Trò Của AI</a:t>
            </a:r>
          </a:p>
          <a:p>
            <a:pPr>
              <a:lnSpc>
                <a:spcPct val="115000"/>
              </a:lnSpc>
              <a:spcBef>
                <a:spcPts val="600"/>
              </a:spcBef>
              <a:defRPr sz="1300">
                <a:solidFill>
                  <a:srgbClr val="334155"/>
                </a:solidFill>
                <a:latin typeface="Outfit"/>
              </a:defRPr>
            </a:pPr>
            <a:r>
              <a:t>AI (RAG Test Generator) giúp rút ngắn đáng kể thời gian thiết kế test case thủ công.</a:t>
            </a:r>
          </a:p>
          <a:p>
            <a:pPr>
              <a:lnSpc>
                <a:spcPct val="115000"/>
              </a:lnSpc>
              <a:spcBef>
                <a:spcPts val="600"/>
              </a:spcBef>
              <a:defRPr sz="1300">
                <a:solidFill>
                  <a:srgbClr val="334155"/>
                </a:solidFill>
                <a:latin typeface="Outfit"/>
              </a:defRPr>
            </a:pPr>
            <a:r>
              <a:t>Sinh test case động bám sát theo code backend giúp giảm thiểu sai sót của con người.</a:t>
            </a:r>
          </a:p>
          <a:p>
            <a:pPr>
              <a:lnSpc>
                <a:spcPct val="115000"/>
              </a:lnSpc>
              <a:spcBef>
                <a:spcPts val="600"/>
              </a:spcBef>
              <a:defRPr sz="1300">
                <a:solidFill>
                  <a:srgbClr val="334155"/>
                </a:solidFill>
                <a:latin typeface="Outfit"/>
              </a:defRPr>
            </a:pPr>
            <a:r>
              <a:t>Kiểm thử tự động hóa là quy chuẩn bắt buộc để đảm bảo chất lượng, sự ổn định lâu dài và ngăn chặn lỗi hồi quy (regression errors) của phần mềm.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